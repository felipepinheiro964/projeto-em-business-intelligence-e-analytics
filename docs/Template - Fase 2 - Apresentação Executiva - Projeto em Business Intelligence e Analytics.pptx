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4"/>
  </p:notesMasterIdLst>
  <p:handoutMasterIdLst>
    <p:handoutMasterId r:id="rId15"/>
  </p:handoutMasterIdLst>
  <p:sldIdLst>
    <p:sldId id="288" r:id="rId5"/>
    <p:sldId id="302" r:id="rId6"/>
    <p:sldId id="304" r:id="rId7"/>
    <p:sldId id="305" r:id="rId8"/>
    <p:sldId id="306" r:id="rId9"/>
    <p:sldId id="307" r:id="rId10"/>
    <p:sldId id="308" r:id="rId11"/>
    <p:sldId id="309" r:id="rId12"/>
    <p:sldId id="300" r:id="rId13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2"/>
            <p14:sldId id="304"/>
            <p14:sldId id="305"/>
            <p14:sldId id="306"/>
            <p14:sldId id="307"/>
            <p14:sldId id="308"/>
            <p14:sldId id="30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438" autoAdjust="0"/>
  </p:normalViewPr>
  <p:slideViewPr>
    <p:cSldViewPr snapToGrid="0">
      <p:cViewPr varScale="1">
        <p:scale>
          <a:sx n="77" d="100"/>
          <a:sy n="77" d="100"/>
        </p:scale>
        <p:origin x="1290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05A-1E4D-2B3B-19D6-6FBCA06E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A397BE8-29A4-C3CF-4321-6D4D995AD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4B24ECB-5489-19BB-F2C5-2608144A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8E68C17-2EBF-BB24-C900-0BED949B7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02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96F0-2F01-ED90-67D5-2D6C8F9F4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F99737B-A502-64D8-E789-81775FA00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53398ED-A254-4A74-24F6-9DA356C57A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B9957784-009F-9771-6436-D3E52494B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125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6844-09D4-A5EB-BE27-E078DFF1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447FADB8-16B0-43FC-86E3-5779E73B2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FE0F885-91A8-6C47-10FF-E3C309253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6F42A3-36F9-4E24-A8D4-A06B9765DE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819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A5603-97A0-449B-8893-18D03A82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1DDAA018-A431-A5F4-A0C5-3CEDCEEB4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30772D9-644D-8B45-C344-4B562CF63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C004FD4-DA99-69CE-67D2-0DA81574A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1967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u="sng" dirty="0">
                <a:solidFill>
                  <a:schemeClr val="accent1"/>
                </a:solidFill>
              </a:rPr>
              <a:t>github.com/FelipePinheiro964/Projeto-Em-Business-Intelligence-e-Analytics</a:t>
            </a:r>
            <a:endParaRPr lang="pt-BR" sz="1600" b="1" u="sng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4340-6EE1-4068-38AA-90BE1A3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2D51578-798C-CC7B-83A1-52FCA37E0C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do modelo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C18CEF13-32EC-5EE6-0721-285AC48D6C51}"/>
              </a:ext>
            </a:extLst>
          </p:cNvPr>
          <p:cNvSpPr txBox="1">
            <a:spLocks/>
          </p:cNvSpPr>
          <p:nvPr/>
        </p:nvSpPr>
        <p:spPr>
          <a:xfrm>
            <a:off x="928687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19F75458-0882-12B4-4915-140BADAC6903}"/>
              </a:ext>
            </a:extLst>
          </p:cNvPr>
          <p:cNvSpPr txBox="1">
            <a:spLocks/>
          </p:cNvSpPr>
          <p:nvPr/>
        </p:nvSpPr>
        <p:spPr>
          <a:xfrm>
            <a:off x="6007893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9230BB37-AB2D-3AF0-5467-C3B221B1AF84}"/>
              </a:ext>
            </a:extLst>
          </p:cNvPr>
          <p:cNvSpPr txBox="1">
            <a:spLocks/>
          </p:cNvSpPr>
          <p:nvPr/>
        </p:nvSpPr>
        <p:spPr>
          <a:xfrm>
            <a:off x="11087099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125C1541-4928-0AB6-D9D6-90EA778E3CBA}"/>
              </a:ext>
            </a:extLst>
          </p:cNvPr>
          <p:cNvSpPr txBox="1">
            <a:spLocks/>
          </p:cNvSpPr>
          <p:nvPr/>
        </p:nvSpPr>
        <p:spPr>
          <a:xfrm>
            <a:off x="1680486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Precisão</a:t>
            </a:r>
          </a:p>
        </p:txBody>
      </p:sp>
      <p:sp>
        <p:nvSpPr>
          <p:cNvPr id="24" name="Espaço Reservado para Texto 1">
            <a:extLst>
              <a:ext uri="{FF2B5EF4-FFF2-40B4-BE49-F238E27FC236}">
                <a16:creationId xmlns:a16="http://schemas.microsoft.com/office/drawing/2014/main" id="{66324DE0-63CF-64C0-5612-103F2DDFEEC8}"/>
              </a:ext>
            </a:extLst>
          </p:cNvPr>
          <p:cNvSpPr txBox="1">
            <a:spLocks/>
          </p:cNvSpPr>
          <p:nvPr/>
        </p:nvSpPr>
        <p:spPr>
          <a:xfrm>
            <a:off x="1680486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0,26</a:t>
            </a:r>
          </a:p>
        </p:txBody>
      </p:sp>
      <p:sp>
        <p:nvSpPr>
          <p:cNvPr id="35" name="Espaço Reservado para Texto 1">
            <a:extLst>
              <a:ext uri="{FF2B5EF4-FFF2-40B4-BE49-F238E27FC236}">
                <a16:creationId xmlns:a16="http://schemas.microsoft.com/office/drawing/2014/main" id="{5AAE0159-863E-9A24-FE0D-FE2D63BD2B92}"/>
              </a:ext>
            </a:extLst>
          </p:cNvPr>
          <p:cNvSpPr txBox="1">
            <a:spLocks/>
          </p:cNvSpPr>
          <p:nvPr/>
        </p:nvSpPr>
        <p:spPr>
          <a:xfrm>
            <a:off x="6759692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</a:p>
        </p:txBody>
      </p:sp>
      <p:sp>
        <p:nvSpPr>
          <p:cNvPr id="37" name="Espaço Reservado para Texto 1">
            <a:extLst>
              <a:ext uri="{FF2B5EF4-FFF2-40B4-BE49-F238E27FC236}">
                <a16:creationId xmlns:a16="http://schemas.microsoft.com/office/drawing/2014/main" id="{9801C309-DE7F-A1DE-409C-4CA09CCBE777}"/>
              </a:ext>
            </a:extLst>
          </p:cNvPr>
          <p:cNvSpPr txBox="1">
            <a:spLocks/>
          </p:cNvSpPr>
          <p:nvPr/>
        </p:nvSpPr>
        <p:spPr>
          <a:xfrm>
            <a:off x="6759692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0,77</a:t>
            </a:r>
          </a:p>
        </p:txBody>
      </p:sp>
      <p:sp>
        <p:nvSpPr>
          <p:cNvPr id="39" name="Espaço Reservado para Texto 1">
            <a:extLst>
              <a:ext uri="{FF2B5EF4-FFF2-40B4-BE49-F238E27FC236}">
                <a16:creationId xmlns:a16="http://schemas.microsoft.com/office/drawing/2014/main" id="{D1B1FFF8-354D-FDE2-EE28-DF479D7C09F3}"/>
              </a:ext>
            </a:extLst>
          </p:cNvPr>
          <p:cNvSpPr txBox="1">
            <a:spLocks/>
          </p:cNvSpPr>
          <p:nvPr/>
        </p:nvSpPr>
        <p:spPr>
          <a:xfrm>
            <a:off x="11838898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</p:txBody>
      </p:sp>
      <p:sp>
        <p:nvSpPr>
          <p:cNvPr id="41" name="Espaço Reservado para Texto 1">
            <a:extLst>
              <a:ext uri="{FF2B5EF4-FFF2-40B4-BE49-F238E27FC236}">
                <a16:creationId xmlns:a16="http://schemas.microsoft.com/office/drawing/2014/main" id="{81D544E1-6D91-E906-0C5F-F4AF62D85998}"/>
              </a:ext>
            </a:extLst>
          </p:cNvPr>
          <p:cNvSpPr txBox="1">
            <a:spLocks/>
          </p:cNvSpPr>
          <p:nvPr/>
        </p:nvSpPr>
        <p:spPr>
          <a:xfrm>
            <a:off x="11838898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0,39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0ED728D7-D035-F408-E89B-411052A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7" y="4800600"/>
            <a:ext cx="5992930" cy="4769883"/>
          </a:xfrm>
          <a:prstGeom prst="rect">
            <a:avLst/>
          </a:prstGeom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73CB71A5-72D6-6067-2F92-D391552F2657}"/>
              </a:ext>
            </a:extLst>
          </p:cNvPr>
          <p:cNvSpPr txBox="1"/>
          <p:nvPr/>
        </p:nvSpPr>
        <p:spPr>
          <a:xfrm>
            <a:off x="3925152" y="4439658"/>
            <a:ext cx="8201024" cy="276999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0" i="1" dirty="0">
                <a:solidFill>
                  <a:srgbClr val="666666"/>
                </a:solidFill>
                <a:latin typeface="Calibri"/>
              </a:rPr>
              <a:t>Validação cruzada temporal, 2014–2024 (176 previsões agregadas), com class_weight="balanced"</a:t>
            </a:r>
          </a:p>
        </p:txBody>
      </p:sp>
      <p:sp>
        <p:nvSpPr>
          <p:cNvPr id="53" name="Espaço Reservado para Texto 1">
            <a:extLst>
              <a:ext uri="{FF2B5EF4-FFF2-40B4-BE49-F238E27FC236}">
                <a16:creationId xmlns:a16="http://schemas.microsoft.com/office/drawing/2014/main" id="{153B1ECC-44D4-FB16-2F83-1505AF732A56}"/>
              </a:ext>
            </a:extLst>
          </p:cNvPr>
          <p:cNvSpPr txBox="1">
            <a:spLocks/>
          </p:cNvSpPr>
          <p:nvPr/>
        </p:nvSpPr>
        <p:spPr>
          <a:xfrm>
            <a:off x="7933987" y="5264772"/>
            <a:ext cx="7363502" cy="309273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  <a:p>
            <a:pPr>
              <a:spcAft>
                <a:spcPts val="1000"/>
              </a:spcAft>
            </a:pPr>
            <a:r>
              <a:rPr lang="pt-BR" sz="2000" dirty="0">
                <a:solidFill>
                  <a:srgbClr val="333333"/>
                </a:solidFill>
              </a:rPr>
              <a:t>O modelo identifica corretamente 20 dos 26 rebaixamentos reais do período (recall de 77%), ao custo de 57 falsos positivos.</a:t>
            </a:r>
          </a:p>
          <a:p>
            <a:pPr>
              <a:spcAft>
                <a:spcPts val="0"/>
              </a:spcAft>
            </a:pPr>
            <a:r>
              <a:rPr lang="pt-BR" sz="2000" dirty="0">
                <a:solidFill>
                  <a:srgbClr val="333333"/>
                </a:solidFill>
              </a:rPr>
              <a:t>Essa configuração foi escolhida por priorizar a utilidade do KPI como sistema de alerta: para o negócio, é preferível superestimar o risco em times seguros do que deixar de sinalizar um time que de fato será rebaixado.</a:t>
            </a:r>
          </a:p>
          <a:p>
            <a:pPr algn="ctr"/>
            <a:endParaRPr lang="pt-BR" sz="2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625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58F5-1313-0CE3-CAF2-4FD4F4D7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25CE63D5-9783-23F9-A04B-17C25F806A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do Dashboard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07FAB641-9AFE-F22F-6B89-7A171DDC9E61}"/>
              </a:ext>
            </a:extLst>
          </p:cNvPr>
          <p:cNvSpPr txBox="1">
            <a:spLocks/>
          </p:cNvSpPr>
          <p:nvPr/>
        </p:nvSpPr>
        <p:spPr>
          <a:xfrm>
            <a:off x="317044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6CDB8DC1-37B3-D4AB-F779-439DF76C84AC}"/>
              </a:ext>
            </a:extLst>
          </p:cNvPr>
          <p:cNvSpPr txBox="1">
            <a:spLocks/>
          </p:cNvSpPr>
          <p:nvPr/>
        </p:nvSpPr>
        <p:spPr>
          <a:xfrm>
            <a:off x="505730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Divisão de risco dos clubes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 os clubes conforme o risco previsto nas categorias Baixo, Medio, Alto e Muito alto.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40C22DA8-04A9-7F05-1E77-85966597C8A4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DD33A01-0674-351E-87A7-49E10712ED80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2 – Média de risco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5" name="Espaço Reservado para Texto 1">
            <a:extLst>
              <a:ext uri="{FF2B5EF4-FFF2-40B4-BE49-F238E27FC236}">
                <a16:creationId xmlns:a16="http://schemas.microsoft.com/office/drawing/2014/main" id="{2114B58A-7B6C-8A51-A372-CFD809F1038E}"/>
              </a:ext>
            </a:extLst>
          </p:cNvPr>
          <p:cNvSpPr txBox="1">
            <a:spLocks/>
          </p:cNvSpPr>
          <p:nvPr/>
        </p:nvSpPr>
        <p:spPr>
          <a:xfrm>
            <a:off x="317044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9E807486-C73E-900F-B9BE-D66C04A8780E}"/>
              </a:ext>
            </a:extLst>
          </p:cNvPr>
          <p:cNvSpPr txBox="1">
            <a:spLocks/>
          </p:cNvSpPr>
          <p:nvPr/>
        </p:nvSpPr>
        <p:spPr>
          <a:xfrm>
            <a:off x="505730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3 – Maior risco de rebaixamento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maior risco previsto na temporada analisada.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C6ECB8DB-5348-3C77-33FF-CAB922DF014D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B22B410E-0F7C-7A10-F2A9-7FE4DD3D781C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4 – Menor Risco de rebaixamento</a:t>
            </a:r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33" name="Espaço Reservado para Texto 1">
            <a:extLst>
              <a:ext uri="{FF2B5EF4-FFF2-40B4-BE49-F238E27FC236}">
                <a16:creationId xmlns:a16="http://schemas.microsoft.com/office/drawing/2014/main" id="{A0FC9110-E7BE-86A5-71B1-F4E35A37B9AB}"/>
              </a:ext>
            </a:extLst>
          </p:cNvPr>
          <p:cNvSpPr txBox="1">
            <a:spLocks/>
          </p:cNvSpPr>
          <p:nvPr/>
        </p:nvSpPr>
        <p:spPr>
          <a:xfrm>
            <a:off x="317044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Espaço Reservado para Texto 1">
            <a:extLst>
              <a:ext uri="{FF2B5EF4-FFF2-40B4-BE49-F238E27FC236}">
                <a16:creationId xmlns:a16="http://schemas.microsoft.com/office/drawing/2014/main" id="{9B3A136E-25E5-48E8-6D9A-F528983D6735}"/>
              </a:ext>
            </a:extLst>
          </p:cNvPr>
          <p:cNvSpPr txBox="1">
            <a:spLocks/>
          </p:cNvSpPr>
          <p:nvPr/>
        </p:nvSpPr>
        <p:spPr>
          <a:xfrm>
            <a:off x="505730" y="5531449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5 – Risco de rebaixamento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Gráfico de barras com risco previsto de cada clube, permitindo comparação entre eles.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ACAC470C-CC8A-7985-ACDB-40BC4C1ADE4E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8D0A85B0-C545-D8AA-47E7-3F983AA2A6B1}"/>
              </a:ext>
            </a:extLst>
          </p:cNvPr>
          <p:cNvSpPr txBox="1">
            <a:spLocks/>
          </p:cNvSpPr>
          <p:nvPr/>
        </p:nvSpPr>
        <p:spPr>
          <a:xfrm>
            <a:off x="8589736" y="5531449"/>
            <a:ext cx="688362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Risco ao longo das temporada (2014 – 2025)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histórica do risco previsto, mostrando o comportamento dos clubes ao longo do tempo..</a:t>
            </a:r>
          </a:p>
        </p:txBody>
      </p:sp>
      <p:sp>
        <p:nvSpPr>
          <p:cNvPr id="46" name="Espaço Reservado para Texto 1">
            <a:extLst>
              <a:ext uri="{FF2B5EF4-FFF2-40B4-BE49-F238E27FC236}">
                <a16:creationId xmlns:a16="http://schemas.microsoft.com/office/drawing/2014/main" id="{74C12E54-5CF2-971E-7FAE-ED161C26FEBD}"/>
              </a:ext>
            </a:extLst>
          </p:cNvPr>
          <p:cNvSpPr txBox="1">
            <a:spLocks/>
          </p:cNvSpPr>
          <p:nvPr/>
        </p:nvSpPr>
        <p:spPr>
          <a:xfrm>
            <a:off x="2775477" y="7809956"/>
            <a:ext cx="10851096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Dashboard: </a:t>
            </a:r>
            <a:r>
              <a:rPr lang="pt-BR" u="sng" dirty="0">
                <a:solidFill>
                  <a:schemeClr val="accent1"/>
                </a:solidFill>
              </a:rPr>
              <a:t>https://public.tableau.com/app/profile/felipe.pinheiro.foss./viz/Projeto-em-bi-analytics/Dashboard</a:t>
            </a:r>
            <a:endParaRPr lang="pt-BR" sz="1600" b="1" u="sng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749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47FDC-CD9C-315D-5BF0-4195DB50C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F8B34A84-B5F1-7A4A-F608-FA691A5165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Principais insights – Temporada 2025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CEA9DCD1-8701-DC18-FD80-B8A8FEE276D2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46106AF-6736-EB8A-0303-2A64AEA157EB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7324714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Sport - 83,49%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57CC3FDE-824A-3037-27DE-C838FA5FDFAF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4A0D9C4D-F27D-BA70-45F0-396B418C87A2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7324714" cy="102596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8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Flamengo - 21%</a:t>
            </a:r>
            <a:endParaRPr lang="pt-BR" sz="2800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F158F3D1-4D42-F89D-E4FE-ADD597594433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2941892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3F23FADD-12EC-A2F3-2447-EAEA113A04FC}"/>
              </a:ext>
            </a:extLst>
          </p:cNvPr>
          <p:cNvSpPr txBox="1">
            <a:spLocks/>
          </p:cNvSpPr>
          <p:nvPr/>
        </p:nvSpPr>
        <p:spPr>
          <a:xfrm>
            <a:off x="8589735" y="5531449"/>
            <a:ext cx="7324715" cy="236741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dos 20 clubes correm risco</a:t>
            </a:r>
          </a:p>
          <a:p>
            <a:pPr algn="ctr"/>
            <a:endParaRPr lang="pt-BR" dirty="0">
              <a:solidFill>
                <a:srgbClr val="333333"/>
              </a:solidFill>
            </a:endParaRPr>
          </a:p>
          <a:p>
            <a:pPr algn="ctr"/>
            <a:r>
              <a:rPr lang="pt-BR" dirty="0">
                <a:solidFill>
                  <a:schemeClr val="tx1"/>
                </a:solidFill>
              </a:rPr>
              <a:t>(40%) estão na faixa de risco Muito alto (≥ 60%) na temporada de 2025, concentrados nas últimas colocações da tabela - refletindo a forte relação entre posição final e risco de queda captada pelo modelo.</a:t>
            </a:r>
            <a:endParaRPr lang="pt-BR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E3BDD09-7B06-3D3D-2607-275DF7BF4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2056092"/>
            <a:ext cx="6860718" cy="695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63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BBF56-47A1-5C4A-FB24-E812BC92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C120A62E-236E-574F-047E-B753A0F22A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do Risco Previsto (2014 – 2025)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F4309906-2840-9421-C9A6-0FF839D3557E}"/>
              </a:ext>
            </a:extLst>
          </p:cNvPr>
          <p:cNvSpPr txBox="1">
            <a:spLocks/>
          </p:cNvSpPr>
          <p:nvPr/>
        </p:nvSpPr>
        <p:spPr>
          <a:xfrm>
            <a:off x="622866" y="7674047"/>
            <a:ext cx="15156318" cy="15689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gráfico de evolução permite acompanhar as variações do risco previsto dos clubes ao longo das temporadas, enquanto o gráfico de divisão apresenta a distribuição dos clubes nas faixas de risco em 2025. Juntos, os indicadores permitem comparar o comportamento histórico e identificar a concentração atual dos clubes nas diferentes categorias de risco.</a:t>
            </a:r>
            <a:endParaRPr lang="pt-BR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30A1173-4021-1C55-7FBD-6A1572A4D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66" y="2004622"/>
            <a:ext cx="10291568" cy="559195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4B57B79A-2FE0-03A8-CC3C-B0E88E70F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9785" y="3633641"/>
            <a:ext cx="4303577" cy="2333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788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390819E6-5E1F-4626-074B-893D274D0765}"/>
              </a:ext>
            </a:extLst>
          </p:cNvPr>
          <p:cNvSpPr txBox="1">
            <a:spLocks/>
          </p:cNvSpPr>
          <p:nvPr/>
        </p:nvSpPr>
        <p:spPr>
          <a:xfrm>
            <a:off x="8589734" y="2198451"/>
            <a:ext cx="6906537" cy="667317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0FB9701F-777C-5603-7285-59CBA83B8A4A}"/>
              </a:ext>
            </a:extLst>
          </p:cNvPr>
          <p:cNvSpPr txBox="1">
            <a:spLocks/>
          </p:cNvSpPr>
          <p:nvPr/>
        </p:nvSpPr>
        <p:spPr>
          <a:xfrm>
            <a:off x="905776" y="2198451"/>
            <a:ext cx="6906537" cy="667317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044E3BB6-511B-F4E2-C09B-CCEC0619DC7C}"/>
              </a:ext>
            </a:extLst>
          </p:cNvPr>
          <p:cNvSpPr txBox="1">
            <a:spLocks/>
          </p:cNvSpPr>
          <p:nvPr/>
        </p:nvSpPr>
        <p:spPr>
          <a:xfrm>
            <a:off x="1206230" y="2431916"/>
            <a:ext cx="6225702" cy="605060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 disponíveis 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chemeClr val="tx1"/>
                </a:solidFill>
              </a:rPr>
              <a:t>Apenas 50 casos de rebaixamento entre 2006 e 2024 no conjunto de dados usados para treinar o modelo.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chemeClr val="tx1"/>
                </a:solidFill>
              </a:rPr>
              <a:t>Esse volume limita quantas variáveis podem ser testadas ao mesmo tempo sem perder estabilidade estatísticas.</a:t>
            </a:r>
          </a:p>
        </p:txBody>
      </p:sp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38B72914-BA7F-6A67-30B7-9FD87442B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Limitações do Modelo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F29C8B62-58D5-FB90-71CA-4D1803A8F89D}"/>
              </a:ext>
            </a:extLst>
          </p:cNvPr>
          <p:cNvSpPr txBox="1">
            <a:spLocks/>
          </p:cNvSpPr>
          <p:nvPr/>
        </p:nvSpPr>
        <p:spPr>
          <a:xfrm>
            <a:off x="8930151" y="2431916"/>
            <a:ext cx="6225702" cy="605060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Escolha do modelo final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chemeClr val="tx1"/>
                </a:solidFill>
              </a:rPr>
              <a:t>O modelo com as 8 variáveis originais apresentou coeficientes com sinal invertido, causado por colinearidade entre ponto, posição e vitórias/empates/derrotas.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chemeClr val="tx1"/>
                </a:solidFill>
              </a:rPr>
              <a:t>O modelo final usa uma única variável (posição final), que obteve o melhor f1 (0.369) e o único coeficiente com direção coerente entre as combinaçöes testadas.</a:t>
            </a:r>
          </a:p>
        </p:txBody>
      </p:sp>
    </p:spTree>
    <p:extLst>
      <p:ext uri="{BB962C8B-B14F-4D97-AF65-F5344CB8AC3E}">
        <p14:creationId xmlns:p14="http://schemas.microsoft.com/office/powerpoint/2010/main" val="3399116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2619</TotalTime>
  <Words>766</Words>
  <Application>Microsoft Office PowerPoint</Application>
  <PresentationFormat>Personalizados</PresentationFormat>
  <Paragraphs>68</Paragraphs>
  <Slides>9</Slides>
  <Notes>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275</cp:revision>
  <dcterms:created xsi:type="dcterms:W3CDTF">2024-07-05T13:08:06Z</dcterms:created>
  <dcterms:modified xsi:type="dcterms:W3CDTF">2026-09-06T02:45:33Z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