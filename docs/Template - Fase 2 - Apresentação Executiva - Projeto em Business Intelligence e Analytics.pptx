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1"/>
  </p:notesMasterIdLst>
  <p:handoutMasterIdLst>
    <p:handoutMasterId r:id="rId12"/>
  </p:handoutMasterIdLst>
  <p:sldIdLst>
    <p:sldId id="288" r:id="rId5"/>
    <p:sldId id="302" r:id="rId6"/>
    <p:sldId id="304" r:id="rId7"/>
    <p:sldId id="305" r:id="rId8"/>
    <p:sldId id="306" r:id="rId9"/>
    <p:sldId id="300" r:id="rId10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2"/>
            <p14:sldId id="304"/>
            <p14:sldId id="305"/>
            <p14:sldId id="306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98" autoAdjust="0"/>
    <p:restoredTop sz="94667" autoAdjust="0"/>
  </p:normalViewPr>
  <p:slideViewPr>
    <p:cSldViewPr snapToGrid="0">
      <p:cViewPr varScale="1">
        <p:scale>
          <a:sx n="49" d="100"/>
          <a:sy n="49" d="100"/>
        </p:scale>
        <p:origin x="42" y="9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96F0-2F01-ED90-67D5-2D6C8F9F4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F99737B-A502-64D8-E789-81775FA00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53398ED-A254-4A74-24F6-9DA356C57A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B9957784-009F-9771-6436-D3E52494B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125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7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3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099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6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6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2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2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8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8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0ED728D7-D035-F408-E89B-411052A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7" y="4800600"/>
            <a:ext cx="5992930" cy="4769883"/>
          </a:xfrm>
          <a:prstGeom prst="rect">
            <a:avLst/>
          </a:prstGeom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73CB71A5-72D6-6067-2F92-D391552F2657}"/>
              </a:ext>
            </a:extLst>
          </p:cNvPr>
          <p:cNvSpPr txBox="1"/>
          <p:nvPr/>
        </p:nvSpPr>
        <p:spPr>
          <a:xfrm>
            <a:off x="3925152" y="4439658"/>
            <a:ext cx="8201024" cy="276999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0" i="1" dirty="0">
                <a:solidFill>
                  <a:srgbClr val="666666"/>
                </a:solidFill>
                <a:latin typeface="Calibri"/>
              </a:rPr>
              <a:t>Validação cruzada temporal, 2014–2024 (176 previsões agregadas), com class_weight="balanced"</a:t>
            </a:r>
          </a:p>
        </p:txBody>
      </p:sp>
      <p:sp>
        <p:nvSpPr>
          <p:cNvPr id="53" name="Espaço Reservado para Texto 1">
            <a:extLst>
              <a:ext uri="{FF2B5EF4-FFF2-40B4-BE49-F238E27FC236}">
                <a16:creationId xmlns:a16="http://schemas.microsoft.com/office/drawing/2014/main" id="{153B1ECC-44D4-FB16-2F83-1505AF732A56}"/>
              </a:ext>
            </a:extLst>
          </p:cNvPr>
          <p:cNvSpPr txBox="1">
            <a:spLocks/>
          </p:cNvSpPr>
          <p:nvPr/>
        </p:nvSpPr>
        <p:spPr>
          <a:xfrm>
            <a:off x="7933987" y="5264772"/>
            <a:ext cx="7363502" cy="309273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  <a:p>
            <a:pPr>
              <a:spcAft>
                <a:spcPts val="1000"/>
              </a:spcAft>
            </a:pPr>
            <a:r>
              <a:rPr lang="pt-BR" sz="2000" dirty="0">
                <a:solidFill>
                  <a:srgbClr val="333333"/>
                </a:solidFill>
              </a:rPr>
              <a:t>O modelo identifica corretamente 20 dos 26 rebaixamentos reais do período (recall de 77%), ao custo de 57 falsos positivos.</a:t>
            </a:r>
          </a:p>
          <a:p>
            <a:pPr>
              <a:spcAft>
                <a:spcPts val="0"/>
              </a:spcAft>
            </a:pPr>
            <a:r>
              <a:rPr lang="pt-BR" sz="2000" dirty="0">
                <a:solidFill>
                  <a:srgbClr val="333333"/>
                </a:solidFill>
              </a:rPr>
              <a:t>Essa configuração foi escolhida por priorizar a utilidade do KPI como sistema de alerta: para o negócio, é preferível superestimar o risco em times seguros do que deixar de sinalizar um time que de fato será rebaixado.</a:t>
            </a:r>
          </a:p>
          <a:p>
            <a:pPr algn="ctr"/>
            <a:endParaRPr lang="pt-BR" sz="2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58F5-1313-0CE3-CAF2-4FD4F4D7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5CE63D5-9783-23F9-A04B-17C25F806A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do Dashboard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07FAB641-9AFE-F22F-6B89-7A171DDC9E61}"/>
              </a:ext>
            </a:extLst>
          </p:cNvPr>
          <p:cNvSpPr txBox="1">
            <a:spLocks/>
          </p:cNvSpPr>
          <p:nvPr/>
        </p:nvSpPr>
        <p:spPr>
          <a:xfrm>
            <a:off x="317044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6CDB8DC1-37B3-D4AB-F779-439DF76C84AC}"/>
              </a:ext>
            </a:extLst>
          </p:cNvPr>
          <p:cNvSpPr txBox="1">
            <a:spLocks/>
          </p:cNvSpPr>
          <p:nvPr/>
        </p:nvSpPr>
        <p:spPr>
          <a:xfrm>
            <a:off x="505730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Divisão de risco dos clubes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 os clubes conforme o risco previsto nas categorias Baixo, Medio, Alto e Muito alto.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40C22DA8-04A9-7F05-1E77-85966597C8A4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DD33A01-0674-351E-87A7-49E10712ED80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2 – Média de risco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5" name="Espaço Reservado para Texto 1">
            <a:extLst>
              <a:ext uri="{FF2B5EF4-FFF2-40B4-BE49-F238E27FC236}">
                <a16:creationId xmlns:a16="http://schemas.microsoft.com/office/drawing/2014/main" id="{2114B58A-7B6C-8A51-A372-CFD809F1038E}"/>
              </a:ext>
            </a:extLst>
          </p:cNvPr>
          <p:cNvSpPr txBox="1">
            <a:spLocks/>
          </p:cNvSpPr>
          <p:nvPr/>
        </p:nvSpPr>
        <p:spPr>
          <a:xfrm>
            <a:off x="317044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9E807486-C73E-900F-B9BE-D66C04A8780E}"/>
              </a:ext>
            </a:extLst>
          </p:cNvPr>
          <p:cNvSpPr txBox="1">
            <a:spLocks/>
          </p:cNvSpPr>
          <p:nvPr/>
        </p:nvSpPr>
        <p:spPr>
          <a:xfrm>
            <a:off x="505730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3 – Maior risco de rebaixamento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maior risco previsto na temporada analisada.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C6ECB8DB-5348-3C77-33FF-CAB922DF014D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B22B410E-0F7C-7A10-F2A9-7FE4DD3D781C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4 – Menor Risco de rebaixamento</a:t>
            </a:r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33" name="Espaço Reservado para Texto 1">
            <a:extLst>
              <a:ext uri="{FF2B5EF4-FFF2-40B4-BE49-F238E27FC236}">
                <a16:creationId xmlns:a16="http://schemas.microsoft.com/office/drawing/2014/main" id="{A0FC9110-E7BE-86A5-71B1-F4E35A37B9AB}"/>
              </a:ext>
            </a:extLst>
          </p:cNvPr>
          <p:cNvSpPr txBox="1">
            <a:spLocks/>
          </p:cNvSpPr>
          <p:nvPr/>
        </p:nvSpPr>
        <p:spPr>
          <a:xfrm>
            <a:off x="317044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Espaço Reservado para Texto 1">
            <a:extLst>
              <a:ext uri="{FF2B5EF4-FFF2-40B4-BE49-F238E27FC236}">
                <a16:creationId xmlns:a16="http://schemas.microsoft.com/office/drawing/2014/main" id="{9B3A136E-25E5-48E8-6D9A-F528983D6735}"/>
              </a:ext>
            </a:extLst>
          </p:cNvPr>
          <p:cNvSpPr txBox="1">
            <a:spLocks/>
          </p:cNvSpPr>
          <p:nvPr/>
        </p:nvSpPr>
        <p:spPr>
          <a:xfrm>
            <a:off x="505730" y="5531449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5 – Risco de rebaixamento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Gráfico de barras com risco previsto de cada clube, permitindo comparação entre eles.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ACAC470C-CC8A-7985-ACDB-40BC4C1ADE4E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8D0A85B0-C545-D8AA-47E7-3F983AA2A6B1}"/>
              </a:ext>
            </a:extLst>
          </p:cNvPr>
          <p:cNvSpPr txBox="1">
            <a:spLocks/>
          </p:cNvSpPr>
          <p:nvPr/>
        </p:nvSpPr>
        <p:spPr>
          <a:xfrm>
            <a:off x="8589736" y="5531449"/>
            <a:ext cx="688362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Risco ao longo das temporada (2014 – 2025)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histórica do risco previsto, mostrando o comportamento dos clubes ao longo do tempo..</a:t>
            </a:r>
          </a:p>
        </p:txBody>
      </p:sp>
      <p:sp>
        <p:nvSpPr>
          <p:cNvPr id="46" name="Espaço Reservado para Texto 1">
            <a:extLst>
              <a:ext uri="{FF2B5EF4-FFF2-40B4-BE49-F238E27FC236}">
                <a16:creationId xmlns:a16="http://schemas.microsoft.com/office/drawing/2014/main" id="{74C12E54-5CF2-971E-7FAE-ED161C26FEBD}"/>
              </a:ext>
            </a:extLst>
          </p:cNvPr>
          <p:cNvSpPr txBox="1">
            <a:spLocks/>
          </p:cNvSpPr>
          <p:nvPr/>
        </p:nvSpPr>
        <p:spPr>
          <a:xfrm>
            <a:off x="2775477" y="7809956"/>
            <a:ext cx="10851096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Dashboard: </a:t>
            </a:r>
            <a:r>
              <a:rPr lang="pt-BR" dirty="0"/>
              <a:t>https://public.tableau.com/app/profile/felipe.pinheiro.foss./viz/Projeto-em-bi-analytics/Dashboard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2409</TotalTime>
  <Words>514</Words>
  <Application>Microsoft Office PowerPoint</Application>
  <PresentationFormat>Personalizados</PresentationFormat>
  <Paragraphs>49</Paragraphs>
  <Slides>6</Slides>
  <Notes>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271</cp:revision>
  <dcterms:created xsi:type="dcterms:W3CDTF">2024-07-05T13:08:06Z</dcterms:created>
  <dcterms:modified xsi:type="dcterms:W3CDTF">2026-09-05T23:15:21Z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