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3"/>
  </p:notesMasterIdLst>
  <p:handoutMasterIdLst>
    <p:handoutMasterId r:id="rId14"/>
  </p:handoutMasterIdLst>
  <p:sldIdLst>
    <p:sldId id="288" r:id="rId5"/>
    <p:sldId id="302" r:id="rId6"/>
    <p:sldId id="304" r:id="rId7"/>
    <p:sldId id="305" r:id="rId8"/>
    <p:sldId id="306" r:id="rId9"/>
    <p:sldId id="307" r:id="rId10"/>
    <p:sldId id="308" r:id="rId11"/>
    <p:sldId id="300" r:id="rId12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2"/>
            <p14:sldId id="304"/>
            <p14:sldId id="305"/>
            <p14:sldId id="306"/>
            <p14:sldId id="307"/>
            <p14:sldId id="308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DCD7D2"/>
    <a:srgbClr val="8246D2"/>
    <a:srgbClr val="646491"/>
    <a:srgbClr val="192350"/>
    <a:srgbClr val="56579B"/>
    <a:srgbClr val="EEEEFC"/>
    <a:srgbClr val="19266B"/>
    <a:srgbClr val="39368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98" autoAdjust="0"/>
    <p:restoredTop sz="94438" autoAdjust="0"/>
  </p:normalViewPr>
  <p:slideViewPr>
    <p:cSldViewPr snapToGrid="0">
      <p:cViewPr varScale="1">
        <p:scale>
          <a:sx n="49" d="100"/>
          <a:sy n="49" d="100"/>
        </p:scale>
        <p:origin x="42" y="9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05/09/2026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DBEBC-B96E-46E8-8EEF-3A4138A33DC3}" type="datetimeFigureOut">
              <a:rPr lang="pt-BR" smtClean="0"/>
              <a:t>05/09/2026</a:t>
            </a:fld>
            <a:endParaRPr lang="pt-BR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C3EDC0-8BE0-4B53-981B-0D2AEC565C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5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4936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1205A-1E4D-2B3B-19D6-6FBCA06E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3A397BE8-29A4-C3CF-4321-6D4D995AD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C4B24ECB-5489-19BB-F2C5-2608144AE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8E68C17-2EBF-BB24-C900-0BED949B75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66025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196F0-2F01-ED90-67D5-2D6C8F9F4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EF99737B-A502-64D8-E789-81775FA00B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A53398ED-A254-4A74-24F6-9DA356C57A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B9957784-009F-9771-6436-D3E52494B2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1259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B6844-09D4-A5EB-BE27-E078DFF16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447FADB8-16B0-43FC-86E3-5779E73B2E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0FE0F885-91A8-6C47-10FF-E3C309253C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AB6F42A3-36F9-4E24-A8D4-A06B9765DE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8193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A5603-97A0-449B-8893-18D03A826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1DDAA018-A431-A5F4-A0C5-3CEDCEEB4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030772D9-644D-8B45-C344-4B562CF63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5C004FD4-DA99-69CE-67D2-0DA81574A0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1967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eb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webp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666852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4463258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E2A04869-DECF-FE40-5AF3-003ED549D9FE}"/>
              </a:ext>
            </a:extLst>
          </p:cNvPr>
          <p:cNvSpPr txBox="1">
            <a:spLocks/>
          </p:cNvSpPr>
          <p:nvPr/>
        </p:nvSpPr>
        <p:spPr>
          <a:xfrm>
            <a:off x="928688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EBDC9E87-DD7A-4D29-92DA-F418FD785941}"/>
              </a:ext>
            </a:extLst>
          </p:cNvPr>
          <p:cNvSpPr txBox="1">
            <a:spLocks/>
          </p:cNvSpPr>
          <p:nvPr/>
        </p:nvSpPr>
        <p:spPr>
          <a:xfrm>
            <a:off x="1680487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569BB56C-4C80-B1BD-0E6E-2B88BCBB3208}"/>
              </a:ext>
            </a:extLst>
          </p:cNvPr>
          <p:cNvSpPr txBox="1">
            <a:spLocks/>
          </p:cNvSpPr>
          <p:nvPr/>
        </p:nvSpPr>
        <p:spPr>
          <a:xfrm>
            <a:off x="1680487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rebaixamento calculada para cada um dos 20 clubes da Série A na temporada de 2025</a:t>
            </a:r>
          </a:p>
        </p:txBody>
      </p:sp>
      <p:sp>
        <p:nvSpPr>
          <p:cNvPr id="13" name="Espaço Reservado para Texto 1">
            <a:extLst>
              <a:ext uri="{FF2B5EF4-FFF2-40B4-BE49-F238E27FC236}">
                <a16:creationId xmlns:a16="http://schemas.microsoft.com/office/drawing/2014/main" id="{4F9DD5DE-18D1-0B86-2969-4C3E8ABC928B}"/>
              </a:ext>
            </a:extLst>
          </p:cNvPr>
          <p:cNvSpPr txBox="1">
            <a:spLocks/>
          </p:cNvSpPr>
          <p:nvPr/>
        </p:nvSpPr>
        <p:spPr>
          <a:xfrm>
            <a:off x="6007894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spaço Reservado para Texto 1">
            <a:extLst>
              <a:ext uri="{FF2B5EF4-FFF2-40B4-BE49-F238E27FC236}">
                <a16:creationId xmlns:a16="http://schemas.microsoft.com/office/drawing/2014/main" id="{F23F6F5F-9970-72F5-152A-8E786A5DAC62}"/>
              </a:ext>
            </a:extLst>
          </p:cNvPr>
          <p:cNvSpPr txBox="1">
            <a:spLocks/>
          </p:cNvSpPr>
          <p:nvPr/>
        </p:nvSpPr>
        <p:spPr>
          <a:xfrm>
            <a:off x="6759693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</p:txBody>
      </p:sp>
      <p:sp>
        <p:nvSpPr>
          <p:cNvPr id="21" name="Espaço Reservado para Texto 1">
            <a:extLst>
              <a:ext uri="{FF2B5EF4-FFF2-40B4-BE49-F238E27FC236}">
                <a16:creationId xmlns:a16="http://schemas.microsoft.com/office/drawing/2014/main" id="{8A49E1DA-82AC-08C6-0A73-773474DD29F6}"/>
              </a:ext>
            </a:extLst>
          </p:cNvPr>
          <p:cNvSpPr txBox="1">
            <a:spLocks/>
          </p:cNvSpPr>
          <p:nvPr/>
        </p:nvSpPr>
        <p:spPr>
          <a:xfrm>
            <a:off x="11087100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Espaço Reservado para Texto 1">
            <a:extLst>
              <a:ext uri="{FF2B5EF4-FFF2-40B4-BE49-F238E27FC236}">
                <a16:creationId xmlns:a16="http://schemas.microsoft.com/office/drawing/2014/main" id="{731D9D1B-7803-2595-ADB0-46EB27F42EB5}"/>
              </a:ext>
            </a:extLst>
          </p:cNvPr>
          <p:cNvSpPr txBox="1">
            <a:spLocks/>
          </p:cNvSpPr>
          <p:nvPr/>
        </p:nvSpPr>
        <p:spPr>
          <a:xfrm>
            <a:off x="11838899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</p:txBody>
      </p:sp>
      <p:cxnSp>
        <p:nvCxnSpPr>
          <p:cNvPr id="27" name="Conexão reta 26">
            <a:extLst>
              <a:ext uri="{FF2B5EF4-FFF2-40B4-BE49-F238E27FC236}">
                <a16:creationId xmlns:a16="http://schemas.microsoft.com/office/drawing/2014/main" id="{0A8C47B2-4CFE-1289-FC3F-F7025F5EB329}"/>
              </a:ext>
            </a:extLst>
          </p:cNvPr>
          <p:cNvCxnSpPr>
            <a:cxnSpLocks/>
          </p:cNvCxnSpPr>
          <p:nvPr/>
        </p:nvCxnSpPr>
        <p:spPr>
          <a:xfrm flipV="1">
            <a:off x="997744" y="4088550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xão reta 27">
            <a:extLst>
              <a:ext uri="{FF2B5EF4-FFF2-40B4-BE49-F238E27FC236}">
                <a16:creationId xmlns:a16="http://schemas.microsoft.com/office/drawing/2014/main" id="{C6B4D194-B3B8-27A4-D371-D795AF40E102}"/>
              </a:ext>
            </a:extLst>
          </p:cNvPr>
          <p:cNvCxnSpPr>
            <a:cxnSpLocks/>
          </p:cNvCxnSpPr>
          <p:nvPr/>
        </p:nvCxnSpPr>
        <p:spPr>
          <a:xfrm flipV="1">
            <a:off x="997744" y="2271248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spaço Reservado para Texto 1">
            <a:extLst>
              <a:ext uri="{FF2B5EF4-FFF2-40B4-BE49-F238E27FC236}">
                <a16:creationId xmlns:a16="http://schemas.microsoft.com/office/drawing/2014/main" id="{A9032A32-8494-E1D9-E2C3-627CEC1EC8C3}"/>
              </a:ext>
            </a:extLst>
          </p:cNvPr>
          <p:cNvSpPr txBox="1">
            <a:spLocks/>
          </p:cNvSpPr>
          <p:nvPr/>
        </p:nvSpPr>
        <p:spPr>
          <a:xfrm>
            <a:off x="6759693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variável preditiva.</a:t>
            </a:r>
          </a:p>
        </p:txBody>
      </p:sp>
      <p:sp>
        <p:nvSpPr>
          <p:cNvPr id="32" name="Espaço Reservado para Texto 1">
            <a:extLst>
              <a:ext uri="{FF2B5EF4-FFF2-40B4-BE49-F238E27FC236}">
                <a16:creationId xmlns:a16="http://schemas.microsoft.com/office/drawing/2014/main" id="{67737EF5-677D-2BFC-E9E9-856CC0993796}"/>
              </a:ext>
            </a:extLst>
          </p:cNvPr>
          <p:cNvSpPr txBox="1">
            <a:spLocks/>
          </p:cNvSpPr>
          <p:nvPr/>
        </p:nvSpPr>
        <p:spPr>
          <a:xfrm>
            <a:off x="11838899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Tableau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6162992" y="2041451"/>
            <a:ext cx="9310369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  Python (pandas, scikit-learn): preparação de dados e modelagem preditiva;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notebook: desenvolvimento e documentação da análise;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Public: construção e publicação do dashboard;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Git/Github: documentação e histórico do projeto.</a:t>
            </a:r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6162992" y="3857608"/>
            <a:ext cx="2104798" cy="4550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da solução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5840391-6E96-1BF7-34E3-A17387148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" y="2041451"/>
            <a:ext cx="5294117" cy="6617646"/>
          </a:xfrm>
          <a:prstGeom prst="rect">
            <a:avLst/>
          </a:prstGeom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</p:pic>
      <p:sp>
        <p:nvSpPr>
          <p:cNvPr id="11" name="Espaço Reservado para Texto 1">
            <a:extLst>
              <a:ext uri="{FF2B5EF4-FFF2-40B4-BE49-F238E27FC236}">
                <a16:creationId xmlns:a16="http://schemas.microsoft.com/office/drawing/2014/main" id="{2A37608E-33FB-922F-A7A3-B4F0D3B99BEF}"/>
              </a:ext>
            </a:extLst>
          </p:cNvPr>
          <p:cNvSpPr txBox="1">
            <a:spLocks/>
          </p:cNvSpPr>
          <p:nvPr/>
        </p:nvSpPr>
        <p:spPr>
          <a:xfrm>
            <a:off x="6162991" y="7887778"/>
            <a:ext cx="9310369" cy="6996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Repositorio: </a:t>
            </a:r>
            <a:r>
              <a:rPr lang="pt-BR" sz="1600" dirty="0">
                <a:solidFill>
                  <a:srgbClr val="333333"/>
                </a:solidFill>
              </a:rPr>
              <a:t>github.com/FelipePinheiro964/Projeto-Em-Business-Intelligence-e-Analytics</a:t>
            </a:r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12AC9E0-8745-86C3-F4D0-0E15AA71A1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992" y="4370466"/>
            <a:ext cx="1375116" cy="1375116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725373C1-0109-E1BE-EA7A-614C5EDBCC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09583" y="4375160"/>
            <a:ext cx="1528752" cy="1528752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5E3CD0E-419B-53D1-37AF-D251EF6AA5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344" y="4370466"/>
            <a:ext cx="585199" cy="67883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2DC6EF2B-2B87-02DF-90ED-3DC13C37CD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3758" y="4861270"/>
            <a:ext cx="704079" cy="704079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6BBE995-1C79-097C-290D-266DEA251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93487" y="4709881"/>
            <a:ext cx="1543528" cy="865882"/>
          </a:xfrm>
          <a:prstGeom prst="rect">
            <a:avLst/>
          </a:prstGeom>
        </p:spPr>
      </p:pic>
      <p:cxnSp>
        <p:nvCxnSpPr>
          <p:cNvPr id="21" name="Conexão reta unidirecional 20">
            <a:extLst>
              <a:ext uri="{FF2B5EF4-FFF2-40B4-BE49-F238E27FC236}">
                <a16:creationId xmlns:a16="http://schemas.microsoft.com/office/drawing/2014/main" id="{D1997E0B-B04D-7029-8A65-F8D7E7A670A4}"/>
              </a:ext>
            </a:extLst>
          </p:cNvPr>
          <p:cNvCxnSpPr/>
          <p:nvPr/>
        </p:nvCxnSpPr>
        <p:spPr>
          <a:xfrm>
            <a:off x="7691790" y="5139536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Conexão reta unidirecional 21">
            <a:extLst>
              <a:ext uri="{FF2B5EF4-FFF2-40B4-BE49-F238E27FC236}">
                <a16:creationId xmlns:a16="http://schemas.microsoft.com/office/drawing/2014/main" id="{CFDEC7BE-093F-416E-782E-908D025FF4E0}"/>
              </a:ext>
            </a:extLst>
          </p:cNvPr>
          <p:cNvCxnSpPr/>
          <p:nvPr/>
        </p:nvCxnSpPr>
        <p:spPr>
          <a:xfrm>
            <a:off x="10242176" y="5148272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exão reta unidirecional 22">
            <a:extLst>
              <a:ext uri="{FF2B5EF4-FFF2-40B4-BE49-F238E27FC236}">
                <a16:creationId xmlns:a16="http://schemas.microsoft.com/office/drawing/2014/main" id="{7AE804C6-E45A-72D3-3CF0-2EA935C897E4}"/>
              </a:ext>
            </a:extLst>
          </p:cNvPr>
          <p:cNvCxnSpPr/>
          <p:nvPr/>
        </p:nvCxnSpPr>
        <p:spPr>
          <a:xfrm>
            <a:off x="13093963" y="5213309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Espaço Reservado para Texto 1">
            <a:extLst>
              <a:ext uri="{FF2B5EF4-FFF2-40B4-BE49-F238E27FC236}">
                <a16:creationId xmlns:a16="http://schemas.microsoft.com/office/drawing/2014/main" id="{CD5BAB17-3511-3C53-FBF3-51D6232CFE95}"/>
              </a:ext>
            </a:extLst>
          </p:cNvPr>
          <p:cNvSpPr txBox="1">
            <a:spLocks/>
          </p:cNvSpPr>
          <p:nvPr/>
        </p:nvSpPr>
        <p:spPr>
          <a:xfrm>
            <a:off x="6227966" y="6021140"/>
            <a:ext cx="9607347" cy="1350586"/>
          </a:xfrm>
          <a:prstGeom prst="rect">
            <a:avLst/>
          </a:prstGeom>
          <a:noFill/>
          <a:effectLst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Os dados foram obtidos em formato CSV no Kaggle e analisados e preparados no Python/Jupyter Notebook. Com a biblioteca Scikit-learn, foi calculado o risco de rebaixamento de cada clube. Os resultados foram exportados para um novo CSV e posteriormente utilizados no Tableau para criação e publicação do dashboard no Tableau Public.</a:t>
            </a:r>
            <a:endParaRPr lang="pt-BR" sz="14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D4340-6EE1-4068-38AA-90BE1A339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D2D51578-798C-CC7B-83A1-52FCA37E0C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Resultados do modelo</a:t>
            </a: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C18CEF13-32EC-5EE6-0721-285AC48D6C51}"/>
              </a:ext>
            </a:extLst>
          </p:cNvPr>
          <p:cNvSpPr txBox="1">
            <a:spLocks/>
          </p:cNvSpPr>
          <p:nvPr/>
        </p:nvSpPr>
        <p:spPr>
          <a:xfrm>
            <a:off x="928687" y="21566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19F75458-0882-12B4-4915-140BADAC6903}"/>
              </a:ext>
            </a:extLst>
          </p:cNvPr>
          <p:cNvSpPr txBox="1">
            <a:spLocks/>
          </p:cNvSpPr>
          <p:nvPr/>
        </p:nvSpPr>
        <p:spPr>
          <a:xfrm>
            <a:off x="6007893" y="21566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Espaço Reservado para Texto 1">
            <a:extLst>
              <a:ext uri="{FF2B5EF4-FFF2-40B4-BE49-F238E27FC236}">
                <a16:creationId xmlns:a16="http://schemas.microsoft.com/office/drawing/2014/main" id="{9230BB37-AB2D-3AF0-5467-C3B221B1AF84}"/>
              </a:ext>
            </a:extLst>
          </p:cNvPr>
          <p:cNvSpPr txBox="1">
            <a:spLocks/>
          </p:cNvSpPr>
          <p:nvPr/>
        </p:nvSpPr>
        <p:spPr>
          <a:xfrm>
            <a:off x="11087099" y="21566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Espaço Reservado para Texto 1">
            <a:extLst>
              <a:ext uri="{FF2B5EF4-FFF2-40B4-BE49-F238E27FC236}">
                <a16:creationId xmlns:a16="http://schemas.microsoft.com/office/drawing/2014/main" id="{125C1541-4928-0AB6-D9D6-90EA778E3CBA}"/>
              </a:ext>
            </a:extLst>
          </p:cNvPr>
          <p:cNvSpPr txBox="1">
            <a:spLocks/>
          </p:cNvSpPr>
          <p:nvPr/>
        </p:nvSpPr>
        <p:spPr>
          <a:xfrm>
            <a:off x="1680486" y="23305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Precisão</a:t>
            </a:r>
          </a:p>
        </p:txBody>
      </p:sp>
      <p:sp>
        <p:nvSpPr>
          <p:cNvPr id="24" name="Espaço Reservado para Texto 1">
            <a:extLst>
              <a:ext uri="{FF2B5EF4-FFF2-40B4-BE49-F238E27FC236}">
                <a16:creationId xmlns:a16="http://schemas.microsoft.com/office/drawing/2014/main" id="{66324DE0-63CF-64C0-5612-103F2DDFEEC8}"/>
              </a:ext>
            </a:extLst>
          </p:cNvPr>
          <p:cNvSpPr txBox="1">
            <a:spLocks/>
          </p:cNvSpPr>
          <p:nvPr/>
        </p:nvSpPr>
        <p:spPr>
          <a:xfrm>
            <a:off x="1680486" y="29261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0,26</a:t>
            </a:r>
          </a:p>
        </p:txBody>
      </p:sp>
      <p:sp>
        <p:nvSpPr>
          <p:cNvPr id="35" name="Espaço Reservado para Texto 1">
            <a:extLst>
              <a:ext uri="{FF2B5EF4-FFF2-40B4-BE49-F238E27FC236}">
                <a16:creationId xmlns:a16="http://schemas.microsoft.com/office/drawing/2014/main" id="{5AAE0159-863E-9A24-FE0D-FE2D63BD2B92}"/>
              </a:ext>
            </a:extLst>
          </p:cNvPr>
          <p:cNvSpPr txBox="1">
            <a:spLocks/>
          </p:cNvSpPr>
          <p:nvPr/>
        </p:nvSpPr>
        <p:spPr>
          <a:xfrm>
            <a:off x="6759692" y="23305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Recall</a:t>
            </a:r>
          </a:p>
        </p:txBody>
      </p:sp>
      <p:sp>
        <p:nvSpPr>
          <p:cNvPr id="37" name="Espaço Reservado para Texto 1">
            <a:extLst>
              <a:ext uri="{FF2B5EF4-FFF2-40B4-BE49-F238E27FC236}">
                <a16:creationId xmlns:a16="http://schemas.microsoft.com/office/drawing/2014/main" id="{9801C309-DE7F-A1DE-409C-4CA09CCBE777}"/>
              </a:ext>
            </a:extLst>
          </p:cNvPr>
          <p:cNvSpPr txBox="1">
            <a:spLocks/>
          </p:cNvSpPr>
          <p:nvPr/>
        </p:nvSpPr>
        <p:spPr>
          <a:xfrm>
            <a:off x="6759692" y="29261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0,77</a:t>
            </a:r>
          </a:p>
        </p:txBody>
      </p:sp>
      <p:sp>
        <p:nvSpPr>
          <p:cNvPr id="39" name="Espaço Reservado para Texto 1">
            <a:extLst>
              <a:ext uri="{FF2B5EF4-FFF2-40B4-BE49-F238E27FC236}">
                <a16:creationId xmlns:a16="http://schemas.microsoft.com/office/drawing/2014/main" id="{D1B1FFF8-354D-FDE2-EE28-DF479D7C09F3}"/>
              </a:ext>
            </a:extLst>
          </p:cNvPr>
          <p:cNvSpPr txBox="1">
            <a:spLocks/>
          </p:cNvSpPr>
          <p:nvPr/>
        </p:nvSpPr>
        <p:spPr>
          <a:xfrm>
            <a:off x="11838898" y="23305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F1-score</a:t>
            </a:r>
          </a:p>
        </p:txBody>
      </p:sp>
      <p:sp>
        <p:nvSpPr>
          <p:cNvPr id="41" name="Espaço Reservado para Texto 1">
            <a:extLst>
              <a:ext uri="{FF2B5EF4-FFF2-40B4-BE49-F238E27FC236}">
                <a16:creationId xmlns:a16="http://schemas.microsoft.com/office/drawing/2014/main" id="{81D544E1-6D91-E906-0C5F-F4AF62D85998}"/>
              </a:ext>
            </a:extLst>
          </p:cNvPr>
          <p:cNvSpPr txBox="1">
            <a:spLocks/>
          </p:cNvSpPr>
          <p:nvPr/>
        </p:nvSpPr>
        <p:spPr>
          <a:xfrm>
            <a:off x="11838898" y="29261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0,39</a:t>
            </a:r>
          </a:p>
        </p:txBody>
      </p:sp>
      <p:pic>
        <p:nvPicPr>
          <p:cNvPr id="43" name="Imagem 42">
            <a:extLst>
              <a:ext uri="{FF2B5EF4-FFF2-40B4-BE49-F238E27FC236}">
                <a16:creationId xmlns:a16="http://schemas.microsoft.com/office/drawing/2014/main" id="{0ED728D7-D035-F408-E89B-411052A6F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687" y="4800600"/>
            <a:ext cx="5992930" cy="4769883"/>
          </a:xfrm>
          <a:prstGeom prst="rect">
            <a:avLst/>
          </a:prstGeom>
        </p:spPr>
      </p:pic>
      <p:sp>
        <p:nvSpPr>
          <p:cNvPr id="47" name="CaixaDeTexto 46">
            <a:extLst>
              <a:ext uri="{FF2B5EF4-FFF2-40B4-BE49-F238E27FC236}">
                <a16:creationId xmlns:a16="http://schemas.microsoft.com/office/drawing/2014/main" id="{73CB71A5-72D6-6067-2F92-D391552F2657}"/>
              </a:ext>
            </a:extLst>
          </p:cNvPr>
          <p:cNvSpPr txBox="1"/>
          <p:nvPr/>
        </p:nvSpPr>
        <p:spPr>
          <a:xfrm>
            <a:off x="3925152" y="4439658"/>
            <a:ext cx="8201024" cy="276999"/>
          </a:xfrm>
          <a:prstGeom prst="rect">
            <a:avLst/>
          </a:prstGeom>
          <a:noFill/>
          <a:ln w="9525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200" b="0" i="1" dirty="0">
                <a:solidFill>
                  <a:srgbClr val="666666"/>
                </a:solidFill>
                <a:latin typeface="Calibri"/>
              </a:rPr>
              <a:t>Validação cruzada temporal, 2014–2024 (176 previsões agregadas), com class_weight="balanced"</a:t>
            </a:r>
          </a:p>
        </p:txBody>
      </p:sp>
      <p:sp>
        <p:nvSpPr>
          <p:cNvPr id="53" name="Espaço Reservado para Texto 1">
            <a:extLst>
              <a:ext uri="{FF2B5EF4-FFF2-40B4-BE49-F238E27FC236}">
                <a16:creationId xmlns:a16="http://schemas.microsoft.com/office/drawing/2014/main" id="{153B1ECC-44D4-FB16-2F83-1505AF732A56}"/>
              </a:ext>
            </a:extLst>
          </p:cNvPr>
          <p:cNvSpPr txBox="1">
            <a:spLocks/>
          </p:cNvSpPr>
          <p:nvPr/>
        </p:nvSpPr>
        <p:spPr>
          <a:xfrm>
            <a:off x="7933987" y="5264772"/>
            <a:ext cx="7363502" cy="3092738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F1-score</a:t>
            </a:r>
          </a:p>
          <a:p>
            <a:pPr>
              <a:spcAft>
                <a:spcPts val="1000"/>
              </a:spcAft>
            </a:pPr>
            <a:r>
              <a:rPr lang="pt-BR" sz="2000" dirty="0">
                <a:solidFill>
                  <a:srgbClr val="333333"/>
                </a:solidFill>
              </a:rPr>
              <a:t>O modelo identifica corretamente 20 dos 26 rebaixamentos reais do período (recall de 77%), ao custo de 57 falsos positivos.</a:t>
            </a:r>
          </a:p>
          <a:p>
            <a:pPr>
              <a:spcAft>
                <a:spcPts val="0"/>
              </a:spcAft>
            </a:pPr>
            <a:r>
              <a:rPr lang="pt-BR" sz="2000" dirty="0">
                <a:solidFill>
                  <a:srgbClr val="333333"/>
                </a:solidFill>
              </a:rPr>
              <a:t>Essa configuração foi escolhida por priorizar a utilidade do KPI como sistema de alerta: para o negócio, é preferível superestimar o risco em times seguros do que deixar de sinalizar um time que de fato será rebaixado.</a:t>
            </a:r>
          </a:p>
          <a:p>
            <a:pPr algn="ctr"/>
            <a:endParaRPr lang="pt-BR" sz="20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9625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58F5-1313-0CE3-CAF2-4FD4F4D7F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25CE63D5-9783-23F9-A04B-17C25F806A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do Dashboard</a:t>
            </a: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07FAB641-9AFE-F22F-6B89-7A171DDC9E61}"/>
              </a:ext>
            </a:extLst>
          </p:cNvPr>
          <p:cNvSpPr txBox="1">
            <a:spLocks/>
          </p:cNvSpPr>
          <p:nvPr/>
        </p:nvSpPr>
        <p:spPr>
          <a:xfrm>
            <a:off x="317044" y="2156660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Espaço Reservado para Texto 1">
            <a:extLst>
              <a:ext uri="{FF2B5EF4-FFF2-40B4-BE49-F238E27FC236}">
                <a16:creationId xmlns:a16="http://schemas.microsoft.com/office/drawing/2014/main" id="{6CDB8DC1-37B3-D4AB-F779-439DF76C84AC}"/>
              </a:ext>
            </a:extLst>
          </p:cNvPr>
          <p:cNvSpPr txBox="1">
            <a:spLocks/>
          </p:cNvSpPr>
          <p:nvPr/>
        </p:nvSpPr>
        <p:spPr>
          <a:xfrm>
            <a:off x="505730" y="2330551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1 – Divisão de risco dos clubes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 os clubes conforme o risco previsto nas categorias Baixo, Medio, Alto e Muito alto.</a:t>
            </a:r>
          </a:p>
        </p:txBody>
      </p:sp>
      <p:sp>
        <p:nvSpPr>
          <p:cNvPr id="20" name="Espaço Reservado para Texto 1">
            <a:extLst>
              <a:ext uri="{FF2B5EF4-FFF2-40B4-BE49-F238E27FC236}">
                <a16:creationId xmlns:a16="http://schemas.microsoft.com/office/drawing/2014/main" id="{40C22DA8-04A9-7F05-1E77-85966597C8A4}"/>
              </a:ext>
            </a:extLst>
          </p:cNvPr>
          <p:cNvSpPr txBox="1">
            <a:spLocks/>
          </p:cNvSpPr>
          <p:nvPr/>
        </p:nvSpPr>
        <p:spPr>
          <a:xfrm>
            <a:off x="8401050" y="2156660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Espaço Reservado para Texto 1">
            <a:extLst>
              <a:ext uri="{FF2B5EF4-FFF2-40B4-BE49-F238E27FC236}">
                <a16:creationId xmlns:a16="http://schemas.microsoft.com/office/drawing/2014/main" id="{5DD33A01-0674-351E-87A7-49E10712ED80}"/>
              </a:ext>
            </a:extLst>
          </p:cNvPr>
          <p:cNvSpPr txBox="1">
            <a:spLocks/>
          </p:cNvSpPr>
          <p:nvPr/>
        </p:nvSpPr>
        <p:spPr>
          <a:xfrm>
            <a:off x="8589736" y="2330551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2 – Média de risco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Apresenta a média de risco previsto entre os clubes analisados.</a:t>
            </a:r>
          </a:p>
        </p:txBody>
      </p:sp>
      <p:sp>
        <p:nvSpPr>
          <p:cNvPr id="25" name="Espaço Reservado para Texto 1">
            <a:extLst>
              <a:ext uri="{FF2B5EF4-FFF2-40B4-BE49-F238E27FC236}">
                <a16:creationId xmlns:a16="http://schemas.microsoft.com/office/drawing/2014/main" id="{2114B58A-7B6C-8A51-A372-CFD809F1038E}"/>
              </a:ext>
            </a:extLst>
          </p:cNvPr>
          <p:cNvSpPr txBox="1">
            <a:spLocks/>
          </p:cNvSpPr>
          <p:nvPr/>
        </p:nvSpPr>
        <p:spPr>
          <a:xfrm>
            <a:off x="317044" y="3757109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Espaço Reservado para Texto 1">
            <a:extLst>
              <a:ext uri="{FF2B5EF4-FFF2-40B4-BE49-F238E27FC236}">
                <a16:creationId xmlns:a16="http://schemas.microsoft.com/office/drawing/2014/main" id="{9E807486-C73E-900F-B9BE-D66C04A8780E}"/>
              </a:ext>
            </a:extLst>
          </p:cNvPr>
          <p:cNvSpPr txBox="1">
            <a:spLocks/>
          </p:cNvSpPr>
          <p:nvPr/>
        </p:nvSpPr>
        <p:spPr>
          <a:xfrm>
            <a:off x="505730" y="3931000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3 – Maior risco de rebaixamento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 o clube com maior risco previsto na temporada analisada.</a:t>
            </a:r>
          </a:p>
        </p:txBody>
      </p:sp>
      <p:sp>
        <p:nvSpPr>
          <p:cNvPr id="29" name="Espaço Reservado para Texto 1">
            <a:extLst>
              <a:ext uri="{FF2B5EF4-FFF2-40B4-BE49-F238E27FC236}">
                <a16:creationId xmlns:a16="http://schemas.microsoft.com/office/drawing/2014/main" id="{C6ECB8DB-5348-3C77-33FF-CAB922DF014D}"/>
              </a:ext>
            </a:extLst>
          </p:cNvPr>
          <p:cNvSpPr txBox="1">
            <a:spLocks/>
          </p:cNvSpPr>
          <p:nvPr/>
        </p:nvSpPr>
        <p:spPr>
          <a:xfrm>
            <a:off x="8401050" y="3757109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Espaço Reservado para Texto 1">
            <a:extLst>
              <a:ext uri="{FF2B5EF4-FFF2-40B4-BE49-F238E27FC236}">
                <a16:creationId xmlns:a16="http://schemas.microsoft.com/office/drawing/2014/main" id="{B22B410E-0F7C-7A10-F2A9-7FE4DD3D781C}"/>
              </a:ext>
            </a:extLst>
          </p:cNvPr>
          <p:cNvSpPr txBox="1">
            <a:spLocks/>
          </p:cNvSpPr>
          <p:nvPr/>
        </p:nvSpPr>
        <p:spPr>
          <a:xfrm>
            <a:off x="8589736" y="3931000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4 – Menor Risco de rebaixamento</a:t>
            </a:r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 o clube com menor risco previsto na temporada analisada.</a:t>
            </a:r>
          </a:p>
        </p:txBody>
      </p:sp>
      <p:sp>
        <p:nvSpPr>
          <p:cNvPr id="33" name="Espaço Reservado para Texto 1">
            <a:extLst>
              <a:ext uri="{FF2B5EF4-FFF2-40B4-BE49-F238E27FC236}">
                <a16:creationId xmlns:a16="http://schemas.microsoft.com/office/drawing/2014/main" id="{A0FC9110-E7BE-86A5-71B1-F4E35A37B9AB}"/>
              </a:ext>
            </a:extLst>
          </p:cNvPr>
          <p:cNvSpPr txBox="1">
            <a:spLocks/>
          </p:cNvSpPr>
          <p:nvPr/>
        </p:nvSpPr>
        <p:spPr>
          <a:xfrm>
            <a:off x="317044" y="5357558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Espaço Reservado para Texto 1">
            <a:extLst>
              <a:ext uri="{FF2B5EF4-FFF2-40B4-BE49-F238E27FC236}">
                <a16:creationId xmlns:a16="http://schemas.microsoft.com/office/drawing/2014/main" id="{9B3A136E-25E5-48E8-6D9A-F528983D6735}"/>
              </a:ext>
            </a:extLst>
          </p:cNvPr>
          <p:cNvSpPr txBox="1">
            <a:spLocks/>
          </p:cNvSpPr>
          <p:nvPr/>
        </p:nvSpPr>
        <p:spPr>
          <a:xfrm>
            <a:off x="505730" y="5531449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5 – Risco de rebaixamento por clube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Gráfico de barras com risco previsto de cada clube, permitindo comparação entre eles.</a:t>
            </a:r>
          </a:p>
        </p:txBody>
      </p:sp>
      <p:sp>
        <p:nvSpPr>
          <p:cNvPr id="40" name="Espaço Reservado para Texto 1">
            <a:extLst>
              <a:ext uri="{FF2B5EF4-FFF2-40B4-BE49-F238E27FC236}">
                <a16:creationId xmlns:a16="http://schemas.microsoft.com/office/drawing/2014/main" id="{ACAC470C-CC8A-7985-ACDB-40BC4C1ADE4E}"/>
              </a:ext>
            </a:extLst>
          </p:cNvPr>
          <p:cNvSpPr txBox="1">
            <a:spLocks/>
          </p:cNvSpPr>
          <p:nvPr/>
        </p:nvSpPr>
        <p:spPr>
          <a:xfrm>
            <a:off x="8401050" y="5357558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Espaço Reservado para Texto 1">
            <a:extLst>
              <a:ext uri="{FF2B5EF4-FFF2-40B4-BE49-F238E27FC236}">
                <a16:creationId xmlns:a16="http://schemas.microsoft.com/office/drawing/2014/main" id="{8D0A85B0-C545-D8AA-47E7-3F983AA2A6B1}"/>
              </a:ext>
            </a:extLst>
          </p:cNvPr>
          <p:cNvSpPr txBox="1">
            <a:spLocks/>
          </p:cNvSpPr>
          <p:nvPr/>
        </p:nvSpPr>
        <p:spPr>
          <a:xfrm>
            <a:off x="8589736" y="5531449"/>
            <a:ext cx="688362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1 – Risco ao longo das temporada (2014 – 2025)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Evolução histórica do risco previsto, mostrando o comportamento dos clubes ao longo do tempo..</a:t>
            </a:r>
          </a:p>
        </p:txBody>
      </p:sp>
      <p:sp>
        <p:nvSpPr>
          <p:cNvPr id="46" name="Espaço Reservado para Texto 1">
            <a:extLst>
              <a:ext uri="{FF2B5EF4-FFF2-40B4-BE49-F238E27FC236}">
                <a16:creationId xmlns:a16="http://schemas.microsoft.com/office/drawing/2014/main" id="{74C12E54-5CF2-971E-7FAE-ED161C26FEBD}"/>
              </a:ext>
            </a:extLst>
          </p:cNvPr>
          <p:cNvSpPr txBox="1">
            <a:spLocks/>
          </p:cNvSpPr>
          <p:nvPr/>
        </p:nvSpPr>
        <p:spPr>
          <a:xfrm>
            <a:off x="2775477" y="7809956"/>
            <a:ext cx="10851096" cy="6996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Dashboard: </a:t>
            </a:r>
            <a:r>
              <a:rPr lang="pt-BR" dirty="0"/>
              <a:t>https://public.tableau.com/app/profile/felipe.pinheiro.foss./viz/Projeto-em-bi-analytics/Dashboard</a:t>
            </a:r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749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47FDC-CD9C-315D-5BF0-4195DB50C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F8B34A84-B5F1-7A4A-F608-FA691A5165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Principais insights – Temporada 2025</a:t>
            </a:r>
          </a:p>
        </p:txBody>
      </p:sp>
      <p:sp>
        <p:nvSpPr>
          <p:cNvPr id="20" name="Espaço Reservado para Texto 1">
            <a:extLst>
              <a:ext uri="{FF2B5EF4-FFF2-40B4-BE49-F238E27FC236}">
                <a16:creationId xmlns:a16="http://schemas.microsoft.com/office/drawing/2014/main" id="{CEA9DCD1-8701-DC18-FD80-B8A8FEE276D2}"/>
              </a:ext>
            </a:extLst>
          </p:cNvPr>
          <p:cNvSpPr txBox="1">
            <a:spLocks/>
          </p:cNvSpPr>
          <p:nvPr/>
        </p:nvSpPr>
        <p:spPr>
          <a:xfrm>
            <a:off x="8401050" y="2156660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Espaço Reservado para Texto 1">
            <a:extLst>
              <a:ext uri="{FF2B5EF4-FFF2-40B4-BE49-F238E27FC236}">
                <a16:creationId xmlns:a16="http://schemas.microsoft.com/office/drawing/2014/main" id="{546106AF-6736-EB8A-0303-2A64AEA157EB}"/>
              </a:ext>
            </a:extLst>
          </p:cNvPr>
          <p:cNvSpPr txBox="1">
            <a:spLocks/>
          </p:cNvSpPr>
          <p:nvPr/>
        </p:nvSpPr>
        <p:spPr>
          <a:xfrm>
            <a:off x="8589736" y="2330551"/>
            <a:ext cx="7324714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8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Sport - 83,49%</a:t>
            </a: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Apresenta a média de risco previsto entre os clubes analisados.</a:t>
            </a:r>
          </a:p>
        </p:txBody>
      </p:sp>
      <p:sp>
        <p:nvSpPr>
          <p:cNvPr id="29" name="Espaço Reservado para Texto 1">
            <a:extLst>
              <a:ext uri="{FF2B5EF4-FFF2-40B4-BE49-F238E27FC236}">
                <a16:creationId xmlns:a16="http://schemas.microsoft.com/office/drawing/2014/main" id="{57CC3FDE-824A-3037-27DE-C838FA5FDFAF}"/>
              </a:ext>
            </a:extLst>
          </p:cNvPr>
          <p:cNvSpPr txBox="1">
            <a:spLocks/>
          </p:cNvSpPr>
          <p:nvPr/>
        </p:nvSpPr>
        <p:spPr>
          <a:xfrm>
            <a:off x="8401050" y="3757109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Espaço Reservado para Texto 1">
            <a:extLst>
              <a:ext uri="{FF2B5EF4-FFF2-40B4-BE49-F238E27FC236}">
                <a16:creationId xmlns:a16="http://schemas.microsoft.com/office/drawing/2014/main" id="{4A0D9C4D-F27D-BA70-45F0-396B418C87A2}"/>
              </a:ext>
            </a:extLst>
          </p:cNvPr>
          <p:cNvSpPr txBox="1">
            <a:spLocks/>
          </p:cNvSpPr>
          <p:nvPr/>
        </p:nvSpPr>
        <p:spPr>
          <a:xfrm>
            <a:off x="8589736" y="3931000"/>
            <a:ext cx="7324714" cy="1025968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8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Flamengo - 21%</a:t>
            </a:r>
            <a:endParaRPr lang="pt-BR" sz="2800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 o clube com menor risco previsto na temporada analisada.</a:t>
            </a:r>
          </a:p>
        </p:txBody>
      </p:sp>
      <p:sp>
        <p:nvSpPr>
          <p:cNvPr id="40" name="Espaço Reservado para Texto 1">
            <a:extLst>
              <a:ext uri="{FF2B5EF4-FFF2-40B4-BE49-F238E27FC236}">
                <a16:creationId xmlns:a16="http://schemas.microsoft.com/office/drawing/2014/main" id="{F158F3D1-4D42-F89D-E4FE-ADD597594433}"/>
              </a:ext>
            </a:extLst>
          </p:cNvPr>
          <p:cNvSpPr txBox="1">
            <a:spLocks/>
          </p:cNvSpPr>
          <p:nvPr/>
        </p:nvSpPr>
        <p:spPr>
          <a:xfrm>
            <a:off x="8401050" y="5357558"/>
            <a:ext cx="7683956" cy="2941892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Espaço Reservado para Texto 1">
            <a:extLst>
              <a:ext uri="{FF2B5EF4-FFF2-40B4-BE49-F238E27FC236}">
                <a16:creationId xmlns:a16="http://schemas.microsoft.com/office/drawing/2014/main" id="{3F23FADD-12EC-A2F3-2447-EAEA113A04FC}"/>
              </a:ext>
            </a:extLst>
          </p:cNvPr>
          <p:cNvSpPr txBox="1">
            <a:spLocks/>
          </p:cNvSpPr>
          <p:nvPr/>
        </p:nvSpPr>
        <p:spPr>
          <a:xfrm>
            <a:off x="8589735" y="5531449"/>
            <a:ext cx="7324715" cy="236741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 dos 20 clubes correm risco</a:t>
            </a:r>
          </a:p>
          <a:p>
            <a:pPr algn="ctr"/>
            <a:endParaRPr lang="pt-BR" dirty="0">
              <a:solidFill>
                <a:srgbClr val="333333"/>
              </a:solidFill>
            </a:endParaRPr>
          </a:p>
          <a:p>
            <a:pPr algn="ctr"/>
            <a:r>
              <a:rPr lang="pt-BR" dirty="0">
                <a:solidFill>
                  <a:srgbClr val="333333"/>
                </a:solidFill>
              </a:rPr>
              <a:t>(40%) estão na faixa de risco Muito alto (≥ 60%) na temporada de 2025, concentrados nas últimas colocações da tabela - refletindo a forte relação entre posição final e risco de queda captada pelo modelo.</a:t>
            </a:r>
            <a:endParaRPr lang="pt-BR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E3BDD09-7B06-3D3D-2607-275DF7BF4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688" y="2056092"/>
            <a:ext cx="6860718" cy="6950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634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BBF56-47A1-5C4A-FB24-E812BC928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C120A62E-236E-574F-047E-B753A0F22A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Evolução do Risco Previsto (2014 - 2025</a:t>
            </a:r>
          </a:p>
        </p:txBody>
      </p:sp>
      <p:sp>
        <p:nvSpPr>
          <p:cNvPr id="40" name="Espaço Reservado para Texto 1">
            <a:extLst>
              <a:ext uri="{FF2B5EF4-FFF2-40B4-BE49-F238E27FC236}">
                <a16:creationId xmlns:a16="http://schemas.microsoft.com/office/drawing/2014/main" id="{F4309906-2840-9421-C9A6-0FF839D3557E}"/>
              </a:ext>
            </a:extLst>
          </p:cNvPr>
          <p:cNvSpPr txBox="1">
            <a:spLocks/>
          </p:cNvSpPr>
          <p:nvPr/>
        </p:nvSpPr>
        <p:spPr>
          <a:xfrm>
            <a:off x="622866" y="7674047"/>
            <a:ext cx="15156318" cy="15689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O gráfico de evolução permite acompanhar as variações do risco previsto dos clubes ao longo das temporadas, enquanto o gráfico de divisão apresenta a distribuição dos clubes nas faixas de risco em 2025. Juntos, os indicadores permitem comparar o comportamento histórico e identificar a concentração atual dos clubes nas diferentes categorias de risco.</a:t>
            </a:r>
            <a:endParaRPr lang="pt-BR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30A1173-4021-1C55-7FBD-6A1572A4D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866" y="2004622"/>
            <a:ext cx="10291568" cy="559195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4B57B79A-2FE0-03A8-CC3C-B0E88E70F8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9785" y="3633641"/>
            <a:ext cx="4303577" cy="2333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7882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2603</TotalTime>
  <Words>663</Words>
  <Application>Microsoft Office PowerPoint</Application>
  <PresentationFormat>Personalizados</PresentationFormat>
  <Paragraphs>61</Paragraphs>
  <Slides>8</Slides>
  <Notes>5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273</cp:revision>
  <dcterms:created xsi:type="dcterms:W3CDTF">2024-07-05T13:08:06Z</dcterms:created>
  <dcterms:modified xsi:type="dcterms:W3CDTF">2026-09-06T02:29:24Z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